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9540e8b145_1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9540e8b145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9540e8b145_1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9540e8b145_1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9540e8b145_1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9540e8b145_1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9540e8b145_1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9540e8b145_1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9540e8b145_1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9540e8b145_1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9540e8b145_1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9540e8b145_1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9540e8b145_1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9540e8b145_1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9540e8b145_1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9540e8b145_1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9540e8b145_1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9540e8b145_1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9540e8b145_1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9540e8b145_1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9540e8b145_1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9540e8b145_1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6.png"/><Relationship Id="rId5" Type="http://schemas.openxmlformats.org/officeDocument/2006/relationships/image" Target="../media/image12.png"/><Relationship Id="rId6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5" Type="http://schemas.openxmlformats.org/officeDocument/2006/relationships/image" Target="../media/image9.png"/><Relationship Id="rId6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app.powerbi.com/groups/me/reports/d38ac544-2b91-4b41-b935-f79d2eda234e?pbi_source=desktop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744575"/>
            <a:ext cx="8520600" cy="60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90"/>
              <a:buNone/>
            </a:pPr>
            <a:r>
              <a:rPr b="1" lang="en" sz="2380"/>
              <a:t>Final Internship Presentation – DePaul Outreach Analysis</a:t>
            </a:r>
            <a:endParaRPr b="1" sz="208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408250" y="1344875"/>
            <a:ext cx="8520600" cy="42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2136"/>
              <a:t>(Data visualization Week 4 Team 12 )</a:t>
            </a:r>
            <a:endParaRPr b="1" sz="2236"/>
          </a:p>
          <a:p>
            <a:pPr indent="0" lvl="0" marL="0" rtl="0"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100"/>
          </a:p>
        </p:txBody>
      </p:sp>
      <p:sp>
        <p:nvSpPr>
          <p:cNvPr id="56" name="Google Shape;56;p13"/>
          <p:cNvSpPr txBox="1"/>
          <p:nvPr/>
        </p:nvSpPr>
        <p:spPr>
          <a:xfrm>
            <a:off x="973300" y="2047100"/>
            <a:ext cx="3276000" cy="21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PRINCE AKPOBASA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920650" y="4165650"/>
            <a:ext cx="74958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February 2026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4820950" y="2061758"/>
            <a:ext cx="3276000" cy="21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And 8 others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9" name="Google Shape;59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ctrTitle"/>
          </p:nvPr>
        </p:nvSpPr>
        <p:spPr>
          <a:xfrm>
            <a:off x="311700" y="744575"/>
            <a:ext cx="8520600" cy="60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" sz="2380"/>
              <a:t>Project Overview</a:t>
            </a:r>
            <a:endParaRPr b="1" sz="2380"/>
          </a:p>
        </p:txBody>
      </p:sp>
      <p:sp>
        <p:nvSpPr>
          <p:cNvPr id="65" name="Google Shape;65;p14"/>
          <p:cNvSpPr txBox="1"/>
          <p:nvPr>
            <p:ph idx="1" type="subTitle"/>
          </p:nvPr>
        </p:nvSpPr>
        <p:spPr>
          <a:xfrm>
            <a:off x="408250" y="1344875"/>
            <a:ext cx="8520600" cy="55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" sz="2136"/>
              <a:t>Dataset: 7,543 records, 5,000 unique, Jan 2023–Dec 2024</a:t>
            </a:r>
            <a:endParaRPr b="1" sz="2136"/>
          </a:p>
          <a:p>
            <a:pPr indent="0" lvl="0" marL="0" rtl="0"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100"/>
          </a:p>
        </p:txBody>
      </p:sp>
      <p:sp>
        <p:nvSpPr>
          <p:cNvPr id="66" name="Google Shape;66;p14"/>
          <p:cNvSpPr txBox="1"/>
          <p:nvPr/>
        </p:nvSpPr>
        <p:spPr>
          <a:xfrm>
            <a:off x="973300" y="2047100"/>
            <a:ext cx="7366200" cy="6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Goal: Analyze outreach to improve admissions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920650" y="2744375"/>
            <a:ext cx="7495800" cy="20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Structure: </a:t>
            </a:r>
            <a:endParaRPr b="1" sz="18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Week 1 (explore), 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Week 2 (clean/EDA), 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Week 3 (dashboard), 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Recommendations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8" name="Google Shape;6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ctrTitle"/>
          </p:nvPr>
        </p:nvSpPr>
        <p:spPr>
          <a:xfrm>
            <a:off x="311700" y="77500"/>
            <a:ext cx="8520600" cy="60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" sz="2380"/>
              <a:t>Week 1 – Data Exploration</a:t>
            </a:r>
            <a:endParaRPr b="1" sz="2380"/>
          </a:p>
        </p:txBody>
      </p:sp>
      <p:sp>
        <p:nvSpPr>
          <p:cNvPr id="74" name="Google Shape;74;p15"/>
          <p:cNvSpPr txBox="1"/>
          <p:nvPr>
            <p:ph idx="1" type="subTitle"/>
          </p:nvPr>
        </p:nvSpPr>
        <p:spPr>
          <a:xfrm>
            <a:off x="447900" y="616375"/>
            <a:ext cx="8520600" cy="96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136"/>
              <a:t>Overview: </a:t>
            </a:r>
            <a:endParaRPr b="1" sz="2136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1536"/>
              <a:t>Rows/columns :  </a:t>
            </a:r>
            <a:r>
              <a:rPr lang="en" sz="1536"/>
              <a:t>Rows: 7,543  Columns: 80  </a:t>
            </a:r>
            <a:endParaRPr sz="1536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1536"/>
              <a:t>Types: </a:t>
            </a:r>
            <a:r>
              <a:rPr lang="en" sz="1536"/>
              <a:t>Categorical, Numerical, Date</a:t>
            </a:r>
            <a:endParaRPr sz="1536"/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2136"/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2136"/>
          </a:p>
          <a:p>
            <a:pPr indent="0" lvl="0" marL="0" rtl="0"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100"/>
          </a:p>
        </p:txBody>
      </p:sp>
      <p:sp>
        <p:nvSpPr>
          <p:cNvPr id="75" name="Google Shape;75;p15"/>
          <p:cNvSpPr txBox="1"/>
          <p:nvPr/>
        </p:nvSpPr>
        <p:spPr>
          <a:xfrm>
            <a:off x="533575" y="1576975"/>
            <a:ext cx="8219700" cy="34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Key Findings:</a:t>
            </a:r>
            <a:r>
              <a:rPr lang="en" sz="1800">
                <a:solidFill>
                  <a:schemeClr val="dk2"/>
                </a:solidFill>
              </a:rPr>
              <a:t> Missi</a:t>
            </a:r>
            <a:r>
              <a:rPr lang="en" sz="1800">
                <a:solidFill>
                  <a:schemeClr val="dk2"/>
                </a:solidFill>
              </a:rPr>
              <a:t>ng data, unusual types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0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533575" y="3470875"/>
            <a:ext cx="7495800" cy="13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7" name="Google Shape;77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8" name="Google Shape;7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675" y="2001850"/>
            <a:ext cx="8520599" cy="2972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/>
          <p:nvPr>
            <p:ph type="ctrTitle"/>
          </p:nvPr>
        </p:nvSpPr>
        <p:spPr>
          <a:xfrm>
            <a:off x="311700" y="77500"/>
            <a:ext cx="8520600" cy="60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" sz="2380"/>
              <a:t>Week 1- </a:t>
            </a:r>
            <a:r>
              <a:rPr b="1" lang="en" sz="2380"/>
              <a:t>Q</a:t>
            </a:r>
            <a:r>
              <a:rPr b="1" lang="en" sz="2380"/>
              <a:t>uality Issues</a:t>
            </a:r>
            <a:endParaRPr b="1" sz="2380"/>
          </a:p>
        </p:txBody>
      </p:sp>
      <p:sp>
        <p:nvSpPr>
          <p:cNvPr id="84" name="Google Shape;84;p16"/>
          <p:cNvSpPr txBox="1"/>
          <p:nvPr>
            <p:ph idx="1" type="subTitle"/>
          </p:nvPr>
        </p:nvSpPr>
        <p:spPr>
          <a:xfrm>
            <a:off x="447900" y="616375"/>
            <a:ext cx="8520600" cy="12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" sz="2136"/>
              <a:t>Missing</a:t>
            </a:r>
            <a:r>
              <a:rPr b="1" lang="en" sz="2136"/>
              <a:t>: </a:t>
            </a:r>
            <a:r>
              <a:rPr lang="en" sz="2136"/>
              <a:t>% breakdowns (copy table from Week 1 and insert)</a:t>
            </a:r>
            <a:endParaRPr sz="2136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 sz="2136"/>
          </a:p>
        </p:txBody>
      </p:sp>
      <p:sp>
        <p:nvSpPr>
          <p:cNvPr id="85" name="Google Shape;85;p16"/>
          <p:cNvSpPr txBox="1"/>
          <p:nvPr/>
        </p:nvSpPr>
        <p:spPr>
          <a:xfrm>
            <a:off x="514325" y="3521500"/>
            <a:ext cx="8219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Duplicates: </a:t>
            </a:r>
            <a:r>
              <a:rPr lang="en" sz="1800">
                <a:solidFill>
                  <a:schemeClr val="dk2"/>
                </a:solidFill>
              </a:rPr>
              <a:t>2,543 Reference_IDs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0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6" name="Google Shape;86;p16"/>
          <p:cNvSpPr txBox="1"/>
          <p:nvPr/>
        </p:nvSpPr>
        <p:spPr>
          <a:xfrm>
            <a:off x="514325" y="4027475"/>
            <a:ext cx="74958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Improvements:</a:t>
            </a:r>
            <a:r>
              <a:rPr lang="en" sz="1800">
                <a:solidFill>
                  <a:schemeClr val="dk2"/>
                </a:solidFill>
              </a:rPr>
              <a:t> Deduplication, imputation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7" name="Google Shape;8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8" name="Google Shape;8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9950" y="1257575"/>
            <a:ext cx="3524050" cy="2272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95090" y="1257563"/>
            <a:ext cx="2939407" cy="2272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91750" y="1175700"/>
            <a:ext cx="2797650" cy="2353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 txBox="1"/>
          <p:nvPr>
            <p:ph type="ctrTitle"/>
          </p:nvPr>
        </p:nvSpPr>
        <p:spPr>
          <a:xfrm>
            <a:off x="311700" y="77500"/>
            <a:ext cx="8520600" cy="60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" sz="2380"/>
              <a:t>Week 2 – Data Cleaning</a:t>
            </a:r>
            <a:endParaRPr b="1" sz="2380"/>
          </a:p>
        </p:txBody>
      </p:sp>
      <p:sp>
        <p:nvSpPr>
          <p:cNvPr id="96" name="Google Shape;96;p17"/>
          <p:cNvSpPr txBox="1"/>
          <p:nvPr>
            <p:ph idx="1" type="subTitle"/>
          </p:nvPr>
        </p:nvSpPr>
        <p:spPr>
          <a:xfrm>
            <a:off x="447900" y="616375"/>
            <a:ext cx="8520600" cy="6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61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" sz="1536"/>
              <a:t>Steps:</a:t>
            </a:r>
            <a:r>
              <a:rPr lang="en" sz="1536"/>
              <a:t> Dedup, timestamp conversion, missing fill ("Unknown")</a:t>
            </a:r>
            <a:endParaRPr sz="1536"/>
          </a:p>
          <a:p>
            <a:pPr indent="0" lvl="0" marL="0" rtl="0" algn="l">
              <a:lnSpc>
                <a:spcPct val="61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" sz="1536"/>
              <a:t>Types: </a:t>
            </a:r>
            <a:r>
              <a:rPr lang="en" sz="1536"/>
              <a:t>Categorical, Numerical, Date</a:t>
            </a:r>
            <a:endParaRPr sz="1536"/>
          </a:p>
          <a:p>
            <a:pPr indent="0" lvl="0" marL="0" rtl="0" algn="ctr">
              <a:lnSpc>
                <a:spcPct val="61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2136"/>
          </a:p>
          <a:p>
            <a:pPr indent="0" lvl="0" marL="0" rtl="0" algn="ctr">
              <a:lnSpc>
                <a:spcPct val="61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2136"/>
          </a:p>
          <a:p>
            <a:pPr indent="0" lvl="0" marL="0" rtl="0" algn="ctr">
              <a:lnSpc>
                <a:spcPct val="61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sz="1100"/>
          </a:p>
        </p:txBody>
      </p:sp>
      <p:sp>
        <p:nvSpPr>
          <p:cNvPr id="97" name="Google Shape;97;p17"/>
          <p:cNvSpPr txBox="1"/>
          <p:nvPr/>
        </p:nvSpPr>
        <p:spPr>
          <a:xfrm>
            <a:off x="555450" y="1258525"/>
            <a:ext cx="8305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Before/After: </a:t>
            </a:r>
            <a:r>
              <a:rPr lang="en" sz="1800">
                <a:solidFill>
                  <a:schemeClr val="dk2"/>
                </a:solidFill>
              </a:rPr>
              <a:t>Table (missing % reduced from 40% to 15%)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0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8" name="Google Shape;98;p17"/>
          <p:cNvSpPr txBox="1"/>
          <p:nvPr/>
        </p:nvSpPr>
        <p:spPr>
          <a:xfrm>
            <a:off x="529250" y="2092875"/>
            <a:ext cx="7605900" cy="30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9" name="Google Shape;9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0" name="Google Shape;10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8125" y="2092875"/>
            <a:ext cx="3973400" cy="199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6100" y="2092875"/>
            <a:ext cx="3524050" cy="207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8"/>
          <p:cNvSpPr txBox="1"/>
          <p:nvPr>
            <p:ph type="ctrTitle"/>
          </p:nvPr>
        </p:nvSpPr>
        <p:spPr>
          <a:xfrm>
            <a:off x="311700" y="77500"/>
            <a:ext cx="8520600" cy="60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" sz="2380"/>
              <a:t>Week 2 – EDA Insights</a:t>
            </a:r>
            <a:endParaRPr b="1" sz="2380"/>
          </a:p>
        </p:txBody>
      </p:sp>
      <p:sp>
        <p:nvSpPr>
          <p:cNvPr id="107" name="Google Shape;107;p18"/>
          <p:cNvSpPr txBox="1"/>
          <p:nvPr>
            <p:ph idx="1" type="subTitle"/>
          </p:nvPr>
        </p:nvSpPr>
        <p:spPr>
          <a:xfrm>
            <a:off x="447900" y="616375"/>
            <a:ext cx="8520600" cy="16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" sz="1536"/>
              <a:t>Key Trends:</a:t>
            </a:r>
            <a:r>
              <a:rPr b="1" lang="en" sz="1436"/>
              <a:t> Insights (geographic, seasonal, program, bottlenecks, study group)</a:t>
            </a:r>
            <a:endParaRPr b="1" sz="1436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436"/>
          </a:p>
          <a:p>
            <a:pPr indent="0" lvl="0" marL="0" rtl="0"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100"/>
          </a:p>
        </p:txBody>
      </p:sp>
      <p:sp>
        <p:nvSpPr>
          <p:cNvPr id="108" name="Google Shape;108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9" name="Google Shape;10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9038" y="2485600"/>
            <a:ext cx="2766550" cy="218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93613" y="2485600"/>
            <a:ext cx="2853550" cy="2255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38162" y="2521150"/>
            <a:ext cx="2549201" cy="2184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7475" y="1099700"/>
            <a:ext cx="8264824" cy="128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9"/>
          <p:cNvSpPr txBox="1"/>
          <p:nvPr>
            <p:ph type="ctrTitle"/>
          </p:nvPr>
        </p:nvSpPr>
        <p:spPr>
          <a:xfrm>
            <a:off x="311700" y="77500"/>
            <a:ext cx="8520600" cy="60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" sz="2380"/>
              <a:t>Week 3 – Dashboard Walkthrough</a:t>
            </a:r>
            <a:endParaRPr b="1" sz="2380"/>
          </a:p>
        </p:txBody>
      </p:sp>
      <p:sp>
        <p:nvSpPr>
          <p:cNvPr id="118" name="Google Shape;118;p19"/>
          <p:cNvSpPr txBox="1"/>
          <p:nvPr>
            <p:ph idx="1" type="subTitle"/>
          </p:nvPr>
        </p:nvSpPr>
        <p:spPr>
          <a:xfrm>
            <a:off x="447900" y="616375"/>
            <a:ext cx="4773600" cy="50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" sz="1536"/>
              <a:t>Purpose: </a:t>
            </a:r>
            <a:r>
              <a:rPr lang="en" sz="1536"/>
              <a:t>Interactive viz for trends/outcomes</a:t>
            </a:r>
            <a:endParaRPr sz="1100"/>
          </a:p>
        </p:txBody>
      </p:sp>
      <p:sp>
        <p:nvSpPr>
          <p:cNvPr id="119" name="Google Shape;119;p19"/>
          <p:cNvSpPr txBox="1"/>
          <p:nvPr/>
        </p:nvSpPr>
        <p:spPr>
          <a:xfrm>
            <a:off x="5001600" y="616375"/>
            <a:ext cx="3830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2"/>
                </a:solidFill>
              </a:rPr>
              <a:t>Key Features: </a:t>
            </a:r>
            <a:r>
              <a:rPr lang="en" sz="1500">
                <a:solidFill>
                  <a:schemeClr val="dk2"/>
                </a:solidFill>
              </a:rPr>
              <a:t>Filters, slicers, drill-downs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0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0" name="Google Shape;12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1" name="Google Shape;12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49826" y="2641675"/>
            <a:ext cx="3482474" cy="2263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9050" y="2975150"/>
            <a:ext cx="3928924" cy="18172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47925" y="982200"/>
            <a:ext cx="3784376" cy="18172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59050" y="982200"/>
            <a:ext cx="3928924" cy="199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"/>
          <p:cNvSpPr txBox="1"/>
          <p:nvPr>
            <p:ph type="ctrTitle"/>
          </p:nvPr>
        </p:nvSpPr>
        <p:spPr>
          <a:xfrm>
            <a:off x="311700" y="77500"/>
            <a:ext cx="8520600" cy="60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" sz="2380"/>
              <a:t>Major Insights from Dashboard</a:t>
            </a:r>
            <a:endParaRPr b="1" sz="2380"/>
          </a:p>
        </p:txBody>
      </p:sp>
      <p:sp>
        <p:nvSpPr>
          <p:cNvPr id="130" name="Google Shape;130;p20"/>
          <p:cNvSpPr txBox="1"/>
          <p:nvPr>
            <p:ph idx="1" type="subTitle"/>
          </p:nvPr>
        </p:nvSpPr>
        <p:spPr>
          <a:xfrm>
            <a:off x="447900" y="616375"/>
            <a:ext cx="4002000" cy="96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" sz="1536"/>
              <a:t>Insight 1: Geographic (India 61%, Africa 17–33%) + screenshot</a:t>
            </a:r>
            <a:endParaRPr b="1" sz="1536"/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100"/>
          </a:p>
        </p:txBody>
      </p:sp>
      <p:sp>
        <p:nvSpPr>
          <p:cNvPr id="131" name="Google Shape;131;p20"/>
          <p:cNvSpPr txBox="1"/>
          <p:nvPr/>
        </p:nvSpPr>
        <p:spPr>
          <a:xfrm>
            <a:off x="4572000" y="784675"/>
            <a:ext cx="41814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2"/>
                </a:solidFill>
              </a:rPr>
              <a:t>Insight 2: </a:t>
            </a:r>
            <a:r>
              <a:rPr lang="en" sz="1500">
                <a:solidFill>
                  <a:schemeClr val="dk2"/>
                </a:solidFill>
              </a:rPr>
              <a:t>Seasonal Peaks (March–May) + line chart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0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2" name="Google Shape;132;p20"/>
          <p:cNvSpPr txBox="1"/>
          <p:nvPr/>
        </p:nvSpPr>
        <p:spPr>
          <a:xfrm>
            <a:off x="529250" y="1435050"/>
            <a:ext cx="7605900" cy="13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2"/>
                </a:solidFill>
              </a:rPr>
              <a:t>Insight 3: Operational bottlenecks (documents/follow-ups 66%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3" name="Google Shape;13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4" name="Google Shape;134;p20"/>
          <p:cNvSpPr txBox="1"/>
          <p:nvPr/>
        </p:nvSpPr>
        <p:spPr>
          <a:xfrm>
            <a:off x="700950" y="2214725"/>
            <a:ext cx="76059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Insight 4: Program Concentration</a:t>
            </a:r>
            <a:r>
              <a:rPr lang="en" sz="1100">
                <a:solidFill>
                  <a:schemeClr val="dk1"/>
                </a:solidFill>
              </a:rPr>
              <a:t>(Technology-focused programs drive 43% of applications with Fall intake leading, creating strong demand but enrollment risk from over-reliance.)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5" name="Google Shape;135;p20"/>
          <p:cNvSpPr txBox="1"/>
          <p:nvPr/>
        </p:nvSpPr>
        <p:spPr>
          <a:xfrm>
            <a:off x="700950" y="3170075"/>
            <a:ext cx="76059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Insight 5: Study Group Channel Analysis</a:t>
            </a:r>
            <a:r>
              <a:rPr lang="en" sz="1100">
                <a:solidFill>
                  <a:schemeClr val="dk1"/>
                </a:solidFill>
              </a:rPr>
              <a:t>: Study Group accounts for 15% of applications but requires specialized verification workflows to ensure compliance and quality.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1"/>
          <p:cNvSpPr txBox="1"/>
          <p:nvPr>
            <p:ph type="ctrTitle"/>
          </p:nvPr>
        </p:nvSpPr>
        <p:spPr>
          <a:xfrm>
            <a:off x="311700" y="77500"/>
            <a:ext cx="8520600" cy="60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" sz="2380"/>
              <a:t>Counselor/Outreach Metrics</a:t>
            </a:r>
            <a:endParaRPr b="1" sz="2380"/>
          </a:p>
        </p:txBody>
      </p:sp>
      <p:pic>
        <p:nvPicPr>
          <p:cNvPr id="141" name="Google Shape;14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2925" y="2059950"/>
            <a:ext cx="8478225" cy="197245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3" name="Google Shape;143;p21"/>
          <p:cNvSpPr txBox="1"/>
          <p:nvPr>
            <p:ph idx="1" type="subTitle"/>
          </p:nvPr>
        </p:nvSpPr>
        <p:spPr>
          <a:xfrm>
            <a:off x="500550" y="527200"/>
            <a:ext cx="8520600" cy="36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36"/>
              <a:t>Avg Attempts: </a:t>
            </a:r>
            <a:r>
              <a:rPr lang="en" sz="2036"/>
              <a:t>2.1</a:t>
            </a:r>
            <a:endParaRPr sz="1636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36"/>
              <a:t>Response Rate: </a:t>
            </a:r>
            <a:r>
              <a:rPr lang="en" sz="2036"/>
              <a:t>57.7%</a:t>
            </a:r>
            <a:endParaRPr sz="2036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036"/>
              <a:t>Conversion: </a:t>
            </a:r>
            <a:r>
              <a:rPr lang="en" sz="2036"/>
              <a:t>XX%</a:t>
            </a:r>
            <a:endParaRPr b="1" sz="2036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036"/>
              <a:t>Top Counselors: </a:t>
            </a:r>
            <a:endParaRPr sz="2036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036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036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036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36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2036"/>
              <a:t>Trends</a:t>
            </a:r>
            <a:r>
              <a:rPr i="1" lang="en" sz="2036"/>
              <a:t>: Admission outcomes by counselor</a:t>
            </a:r>
            <a:endParaRPr i="1" sz="2036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b="1" sz="2036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2"/>
          <p:cNvSpPr txBox="1"/>
          <p:nvPr>
            <p:ph type="ctrTitle"/>
          </p:nvPr>
        </p:nvSpPr>
        <p:spPr>
          <a:xfrm>
            <a:off x="311700" y="77500"/>
            <a:ext cx="8520600" cy="60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" sz="2380"/>
              <a:t>Recommendations</a:t>
            </a:r>
            <a:endParaRPr b="1" sz="2380"/>
          </a:p>
        </p:txBody>
      </p:sp>
      <p:sp>
        <p:nvSpPr>
          <p:cNvPr id="149" name="Google Shape;149;p22"/>
          <p:cNvSpPr txBox="1"/>
          <p:nvPr>
            <p:ph idx="1" type="subTitle"/>
          </p:nvPr>
        </p:nvSpPr>
        <p:spPr>
          <a:xfrm>
            <a:off x="500550" y="1106550"/>
            <a:ext cx="8520600" cy="293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36"/>
              <a:t>High Priority: </a:t>
            </a:r>
            <a:r>
              <a:rPr lang="en" sz="1536"/>
              <a:t>Geographic segmentation, automate documents</a:t>
            </a:r>
            <a:endParaRPr sz="1536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36"/>
              <a:t>Medium: </a:t>
            </a:r>
            <a:r>
              <a:rPr lang="en" sz="1536"/>
              <a:t>Year-round campaigns, agent workflows</a:t>
            </a:r>
            <a:endParaRPr sz="1536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36"/>
              <a:t>Low: </a:t>
            </a:r>
            <a:r>
              <a:rPr lang="en" sz="1536"/>
              <a:t>Diversify programs</a:t>
            </a:r>
            <a:endParaRPr sz="1536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36"/>
              <a:t>Supported by data (e.g., "Based on 34% document issues")</a:t>
            </a:r>
            <a:endParaRPr b="1" sz="1536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b="1" sz="1536"/>
          </a:p>
        </p:txBody>
      </p:sp>
      <p:sp>
        <p:nvSpPr>
          <p:cNvPr id="150" name="Google Shape;150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3"/>
          <p:cNvSpPr txBox="1"/>
          <p:nvPr>
            <p:ph type="ctrTitle"/>
          </p:nvPr>
        </p:nvSpPr>
        <p:spPr>
          <a:xfrm>
            <a:off x="311700" y="77500"/>
            <a:ext cx="8520600" cy="60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" sz="2380"/>
              <a:t>Conclusion &amp; Key Takeaways</a:t>
            </a:r>
            <a:endParaRPr b="1" sz="2380"/>
          </a:p>
        </p:txBody>
      </p:sp>
      <p:sp>
        <p:nvSpPr>
          <p:cNvPr id="156" name="Google Shape;156;p23"/>
          <p:cNvSpPr txBox="1"/>
          <p:nvPr>
            <p:ph idx="1" type="subTitle"/>
          </p:nvPr>
        </p:nvSpPr>
        <p:spPr>
          <a:xfrm>
            <a:off x="500550" y="1106550"/>
            <a:ext cx="8520600" cy="293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36"/>
              <a:t>Overall:</a:t>
            </a:r>
            <a:r>
              <a:rPr lang="en" sz="1536"/>
              <a:t> Improved outreach efficiency potential</a:t>
            </a:r>
            <a:endParaRPr sz="1536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36"/>
              <a:t>Feedback Incorporation: </a:t>
            </a:r>
            <a:r>
              <a:rPr lang="en" sz="1536"/>
              <a:t>Added visuals/implications from Week 1/2</a:t>
            </a:r>
            <a:endParaRPr sz="1536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36"/>
              <a:t>Growth: </a:t>
            </a:r>
            <a:r>
              <a:rPr lang="en" sz="1536"/>
              <a:t>Skills in Power BI, data cleaning, insights</a:t>
            </a:r>
            <a:endParaRPr sz="1536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b="1" sz="1536"/>
          </a:p>
        </p:txBody>
      </p:sp>
      <p:sp>
        <p:nvSpPr>
          <p:cNvPr id="157" name="Google Shape;157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4"/>
          <p:cNvSpPr txBox="1"/>
          <p:nvPr>
            <p:ph type="ctrTitle"/>
          </p:nvPr>
        </p:nvSpPr>
        <p:spPr>
          <a:xfrm>
            <a:off x="311700" y="77500"/>
            <a:ext cx="8520600" cy="60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" sz="2380"/>
              <a:t>References &amp; Links</a:t>
            </a:r>
            <a:endParaRPr b="1" sz="2380"/>
          </a:p>
        </p:txBody>
      </p:sp>
      <p:sp>
        <p:nvSpPr>
          <p:cNvPr id="163" name="Google Shape;163;p24"/>
          <p:cNvSpPr txBox="1"/>
          <p:nvPr>
            <p:ph idx="1" type="subTitle"/>
          </p:nvPr>
        </p:nvSpPr>
        <p:spPr>
          <a:xfrm>
            <a:off x="500550" y="1106550"/>
            <a:ext cx="8520600" cy="293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36"/>
              <a:t>Dashboard link: </a:t>
            </a:r>
            <a:r>
              <a:rPr b="1" lang="en" sz="1536" u="sng">
                <a:solidFill>
                  <a:schemeClr val="hlink"/>
                </a:solidFill>
                <a:hlinkClick r:id="rId3"/>
              </a:rPr>
              <a:t>https://app.powerbi.com/groups/me/reports/d38ac544-2b91-4b41-b935-f79d2eda234e?pbi_source=desktop</a:t>
            </a:r>
            <a:br>
              <a:rPr b="1" lang="en" sz="1536"/>
            </a:br>
            <a:endParaRPr b="1" sz="1536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1536"/>
              <a:t>Data source: Week 2 Depaul_Data Sheet</a:t>
            </a:r>
            <a:endParaRPr b="1" sz="1536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536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36"/>
              <a:t>Thanks to team/sponsor</a:t>
            </a:r>
            <a:endParaRPr b="1" sz="1536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b="1" sz="1536"/>
          </a:p>
        </p:txBody>
      </p:sp>
      <p:sp>
        <p:nvSpPr>
          <p:cNvPr id="164" name="Google Shape;16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